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latency ms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search</c:v>
                </c:pt>
                <c:pt idx="1">
                  <c:v>qa</c:v>
                </c:pt>
                <c:pt idx="2">
                  <c:v>related</c:v>
                </c:pt>
                <c:pt idx="3">
                  <c:v>timeliness</c:v>
                </c:pt>
                <c:pt idx="4">
                  <c:v>ocr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230.95</c:v>
                </c:pt>
                <c:pt idx="1">
                  <c:v>10131.18</c:v>
                </c:pt>
                <c:pt idx="2">
                  <c:v>35.22</c:v>
                </c:pt>
                <c:pt idx="3">
                  <c:v>2362.64</c:v>
                </c:pt>
                <c:pt idx="4">
                  <c:v>2252.09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7507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基于 RAG 的金融制度知识问答系统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后端验收版 · FastAPI + MySQL + Milvus + Qwen/OpenAI-Compatible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7498079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目标：让金融监管制度文档可检索、可问答、可追溯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48840"/>
            <a:ext cx="6035040" cy="2103120"/>
          </a:xfrm>
          <a:prstGeom prst="rect">
            <a:avLst/>
          </a:prstGeom>
          <a:noFill/>
        </p:spPr>
        <p:txBody>
          <a:bodyPr wrap="square" lIns="101600" rIns="101600" tIns="7620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8FC"/>
                </a:solidFill>
                <a:latin typeface="PingFang SC"/>
              </a:defRPr>
            </a:pPr>
            <a:r>
              <a:t>文档导入：doc / docx / pdf / image / txt</a:t>
            </a:r>
          </a:p>
          <a:p>
            <a:pPr>
              <a:spcAft>
                <a:spcPts val="600"/>
              </a:spcAft>
              <a:defRPr sz="1300">
                <a:solidFill>
                  <a:srgbClr val="F5F8FC"/>
                </a:solidFill>
                <a:latin typeface="PingFang SC"/>
              </a:defRPr>
            </a:pPr>
            <a:r>
              <a:t>知识构建：解析、元数据抽取、条文切分、embedding、Milvus 入库</a:t>
            </a:r>
          </a:p>
          <a:p>
            <a:pPr>
              <a:spcAft>
                <a:spcPts val="600"/>
              </a:spcAft>
              <a:defRPr sz="1300">
                <a:solidFill>
                  <a:srgbClr val="F5F8FC"/>
                </a:solidFill>
                <a:latin typeface="PingFang SC"/>
              </a:defRPr>
            </a:pPr>
            <a:r>
              <a:t>问答链路：混合检索、重排、Prompt 组装、答案引用与可信度信号</a:t>
            </a:r>
          </a:p>
          <a:p>
            <a:pPr>
              <a:spcAft>
                <a:spcPts val="600"/>
              </a:spcAft>
              <a:defRPr sz="1300">
                <a:solidFill>
                  <a:srgbClr val="F5F8FC"/>
                </a:solidFill>
                <a:latin typeface="PingFang SC"/>
              </a:defRPr>
            </a:pPr>
            <a:r>
              <a:t>当前定位：后端验收原型，前端和认证为后续工作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828800"/>
            <a:ext cx="3566160" cy="114300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828800"/>
            <a:ext cx="73152" cy="114300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975104"/>
            <a:ext cx="32918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核心输出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2331720"/>
            <a:ext cx="3291840" cy="52120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Answer + Citations + Confidence + Evidence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246120"/>
            <a:ext cx="3566160" cy="114300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3246120"/>
            <a:ext cx="73152" cy="114300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3392424"/>
            <a:ext cx="32918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代码证据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3749039"/>
            <a:ext cx="3291840" cy="52120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README、backend/app/services、scripts/evaluate_acceptance.py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00" b="0">
                <a:solidFill>
                  <a:srgbClr val="A7B5C9"/>
                </a:solidFill>
                <a:latin typeface="PingFang SC"/>
              </a:defRPr>
            </a:pPr>
            <a:r>
              <a:t>GitHub: tuhaozhuo/finance-policy-rag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问题定义：制度问答需要“证据化”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金融监管文本不是普通 FAQ，答案必须能回到原文条文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3291840" cy="137160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17320"/>
            <a:ext cx="73152" cy="13716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文档复杂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920240"/>
            <a:ext cx="301752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制度文档长、半结构化，包含条文、章节、日期、机关、文号和时效状态。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417320"/>
            <a:ext cx="3291840" cy="137160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417320"/>
            <a:ext cx="73152" cy="137160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1563624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关键词局限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1920240"/>
            <a:ext cx="301752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用户未必知道准确术语；只做 contains 查询容易漏掉自然语言问法。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417320"/>
            <a:ext cx="3291840" cy="137160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417320"/>
            <a:ext cx="73152" cy="137160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1563624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LLM 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920240"/>
            <a:ext cx="301752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直接让大模型回答可能产生无依据结论，制度场景需要 citations。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77440" y="3063240"/>
            <a:ext cx="3337560" cy="82296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897880" y="3063240"/>
            <a:ext cx="182880" cy="82296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971800" y="3794760"/>
            <a:ext cx="6217920" cy="137160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1800" y="3794760"/>
            <a:ext cx="73152" cy="137160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36392" y="3941064"/>
            <a:ext cx="59436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系统目标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36392" y="4297680"/>
            <a:ext cx="59436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先检索相关制度条文，再基于证据生成答案，同时返回引用、时效提示和可信度信号。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为什么使用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检索负责找证据，生成负责组织答案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17320"/>
            <a:ext cx="3291840" cy="182880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63624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纯关键词搜索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1920240"/>
            <a:ext cx="3017520" cy="120700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优点：精确、快</a:t>
            </a:r>
            <a:br/>
            <a:r>
              <a:t>不足：语义覆盖弱，依赖用户用词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417320"/>
            <a:ext cx="3291840" cy="182880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1563624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LLM 直接回答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1920240"/>
            <a:ext cx="3017520" cy="120700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优点：表达自然</a:t>
            </a:r>
            <a:br/>
            <a:r>
              <a:t>不足：本地制度依据不可控，存在幻觉风险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17320"/>
            <a:ext cx="3291840" cy="182880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417320"/>
            <a:ext cx="73152" cy="182880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563624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RAG 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920240"/>
            <a:ext cx="3017520" cy="120700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先召回证据，再限制生成</a:t>
            </a:r>
            <a:br/>
            <a:r>
              <a:t>输出 citations，便于核查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251960"/>
            <a:ext cx="1005840" cy="384048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Query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11680" y="4443984"/>
            <a:ext cx="128016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383280" y="4251960"/>
            <a:ext cx="1234440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Retrieve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54880" y="4443984"/>
            <a:ext cx="128016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26480" y="4251960"/>
            <a:ext cx="1325880" cy="384048"/>
          </a:xfrm>
          <a:prstGeom prst="round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Citations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35240" y="4443984"/>
            <a:ext cx="128016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006840" y="4251960"/>
            <a:ext cx="1325880" cy="384048"/>
          </a:xfrm>
          <a:prstGeom prst="round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89611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PingFang SC"/>
              </a:defRPr>
            </a:pPr>
            <a:r>
              <a:t>Prompt 约束：仅根据给定条文回答；依据不足时说明不确定。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总体架构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FastAPI 负责服务，MySQL 负责结构化状态，Milvus 负责向量检索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1508760" cy="475488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原始文件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554480"/>
            <a:ext cx="1508760" cy="47548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解析/OCR/清洗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554480"/>
            <a:ext cx="1508760" cy="475488"/>
          </a:xfrm>
          <a:prstGeom prst="round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条文切分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1508760" cy="475488"/>
          </a:xfrm>
          <a:prstGeom prst="round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Embedding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051560"/>
            <a:ext cx="1508760" cy="475488"/>
          </a:xfrm>
          <a:prstGeom prst="round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Milvus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103120"/>
            <a:ext cx="1508760" cy="475488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MySQL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840480"/>
            <a:ext cx="1508760" cy="47548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混合检索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840480"/>
            <a:ext cx="1508760" cy="475488"/>
          </a:xfrm>
          <a:prstGeom prst="round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LLM 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840480"/>
            <a:ext cx="1508760" cy="475488"/>
          </a:xfrm>
          <a:prstGeom prst="round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答案+引用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48840" y="1792224"/>
            <a:ext cx="32004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41648" y="1792224"/>
            <a:ext cx="438912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16752" y="1792224"/>
            <a:ext cx="338328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909560" y="1325880"/>
            <a:ext cx="320040" cy="27432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09560" y="1938528"/>
            <a:ext cx="320040" cy="393192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4078224"/>
            <a:ext cx="132588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60920" y="4078224"/>
            <a:ext cx="68580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800600" y="2103120"/>
            <a:ext cx="4206240" cy="173736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800600" y="1508760"/>
            <a:ext cx="4206240" cy="2331720"/>
          </a:xfrm>
          <a:prstGeom prst="line">
            <a:avLst/>
          </a:prstGeom>
          <a:ln w="20320">
            <a:solidFill>
              <a:srgbClr val="12B8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77240" y="5074920"/>
            <a:ext cx="10424160" cy="82296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074920"/>
            <a:ext cx="73152" cy="8229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221224"/>
            <a:ext cx="101498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部署组件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5577840"/>
            <a:ext cx="10149840" cy="20116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Docker Compose 启动 MySQL、etcd、MinIO、Milvus；后端 Dockerfile 安装 antiword/catdoc/tesseract。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文档导入流水线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每个阶段记录耗时与错误，导入失败可追踪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1097280" cy="384048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hash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00200" y="1664208"/>
            <a:ext cx="27432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20240" y="1463040"/>
            <a:ext cx="1097280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parse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1664208"/>
            <a:ext cx="27432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37560" y="1463040"/>
            <a:ext cx="1097280" cy="384048"/>
          </a:xfrm>
          <a:prstGeom prst="round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clean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34840" y="1664208"/>
            <a:ext cx="27432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54880" y="1463040"/>
            <a:ext cx="1097280" cy="384048"/>
          </a:xfrm>
          <a:prstGeom prst="round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metadata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2160" y="1664208"/>
            <a:ext cx="27432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72200" y="1463040"/>
            <a:ext cx="1097280" cy="384048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chunk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69480" y="1664208"/>
            <a:ext cx="27432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89520" y="1463040"/>
            <a:ext cx="1097280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embedding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0" y="1664208"/>
            <a:ext cx="27432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06840" y="1463040"/>
            <a:ext cx="1097280" cy="384048"/>
          </a:xfrm>
          <a:prstGeom prst="round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vector_upsert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04120" y="1664208"/>
            <a:ext cx="27432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424160" y="1463040"/>
            <a:ext cx="1097280" cy="384048"/>
          </a:xfrm>
          <a:prstGeom prst="round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commit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423160"/>
            <a:ext cx="3200400" cy="123444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2423160"/>
            <a:ext cx="73152" cy="123444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2569464"/>
            <a:ext cx="29260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解析类型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926080"/>
            <a:ext cx="2926080" cy="6126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.docx / .pdf / .doc / 图片 OCR / plain 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2423160"/>
            <a:ext cx="3200400" cy="123444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2423160"/>
            <a:ext cx="73152" cy="123444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2569464"/>
            <a:ext cx="29260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任务状态机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2926080"/>
            <a:ext cx="2926080" cy="6126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pending → running → retrying / success / dead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2423160"/>
            <a:ext cx="3200400" cy="123444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2423160"/>
            <a:ext cx="73152" cy="123444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1" y="2569464"/>
            <a:ext cx="29260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可靠性设计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1" y="2926080"/>
            <a:ext cx="2926080" cy="6126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force reindex 时删除旧 chunks 和旧 vectors；stage_metrics_json 记录阶段信息。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709160"/>
            <a:ext cx="9692640" cy="777240"/>
          </a:xfrm>
          <a:prstGeom prst="roundRect">
            <a:avLst/>
          </a:prstGeom>
          <a:solidFill>
            <a:srgbClr val="060F1E"/>
          </a:solidFill>
          <a:ln w="12700">
            <a:solidFill>
              <a:srgbClr val="2E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>
              <a:defRPr sz="1000">
                <a:solidFill>
                  <a:srgbClr val="BEEBFF"/>
                </a:solidFill>
                <a:latin typeface="Menlo"/>
              </a:defRPr>
            </a:pPr>
            <a:r>
              <a:t>DocumentPipelineService.ingest(doc_id)</a:t>
            </a:r>
            <a:br/>
            <a:r>
              <a:t>IngestTaskService.run_due_tasks()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Chunking：条文优先，窗口兜底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制度文本的天然单位是“第 X 条”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325880"/>
            <a:ext cx="3474720" cy="128016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325880"/>
            <a:ext cx="73152" cy="1280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472184"/>
            <a:ext cx="32004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优先策略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828800"/>
            <a:ext cx="3200400" cy="65836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识别 `第X章` 和 `第X条`，chunk 继承 chapter 与 article_no。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325880"/>
            <a:ext cx="3474720" cy="128016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1325880"/>
            <a:ext cx="73152" cy="128016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472184"/>
            <a:ext cx="32004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兜底策略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1828800"/>
            <a:ext cx="3200400" cy="65836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无条文结构时使用固定窗口：max_chars=500，overlap=80。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325880"/>
            <a:ext cx="3200400" cy="128016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325880"/>
            <a:ext cx="73152" cy="128016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1472184"/>
            <a:ext cx="29260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取舍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1828800"/>
            <a:ext cx="2926080" cy="65836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小 chunk 精确但上下文少；大 chunk 完整但噪声和 token 成本更高。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429000"/>
            <a:ext cx="9966960" cy="1417320"/>
          </a:xfrm>
          <a:prstGeom prst="roundRect">
            <a:avLst/>
          </a:prstGeom>
          <a:solidFill>
            <a:srgbClr val="060F1E"/>
          </a:solidFill>
          <a:ln w="12700">
            <a:solidFill>
              <a:srgbClr val="2E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>
              <a:defRPr sz="1000">
                <a:solidFill>
                  <a:srgbClr val="BEEBFF"/>
                </a:solidFill>
                <a:latin typeface="Menlo"/>
              </a:defRPr>
            </a:pPr>
            <a:r>
              <a:t>第八条（合规监管）</a:t>
            </a:r>
            <a:br/>
            <a:r>
              <a:t>上海银保监局依法对保险专业中介机构合规管理实施监督检查。</a:t>
            </a:r>
            <a:br/>
            <a:br/>
            <a:r>
              <a:t>=&gt; chunk: article_no=第八条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32120"/>
            <a:ext cx="68580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00" b="0">
                <a:solidFill>
                  <a:srgbClr val="A7B5C9"/>
                </a:solidFill>
                <a:latin typeface="PingFang SC"/>
              </a:defRPr>
            </a:pPr>
            <a:r>
              <a:t>代码证据：backend/app/services/chunker_service.py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Embedding 与 Milvus 向量索引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ANN / vector search 在 VectorStoreService 中实现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554480"/>
            <a:ext cx="1280160" cy="43891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Chunk 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1773936"/>
            <a:ext cx="109728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554480"/>
            <a:ext cx="1508760" cy="438912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Embedding API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74920" y="1773936"/>
            <a:ext cx="109728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63640" y="1554480"/>
            <a:ext cx="1261872" cy="438912"/>
          </a:xfrm>
          <a:prstGeom prst="round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Normalize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35240" y="1773936"/>
            <a:ext cx="109728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69680" y="1554480"/>
            <a:ext cx="1143000" cy="438912"/>
          </a:xfrm>
          <a:prstGeom prst="round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Milvus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743200"/>
            <a:ext cx="3017520" cy="141732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743200"/>
            <a:ext cx="73152" cy="141732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889504"/>
            <a:ext cx="27432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246120"/>
            <a:ext cx="2743200" cy="7955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`finance_policy_chunks`</a:t>
            </a:r>
            <a:br/>
            <a:r>
              <a:t>主键 vector_id</a:t>
            </a:r>
            <a:br/>
            <a:r>
              <a:t>向量字段 embedding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743200"/>
            <a:ext cx="3291840" cy="141732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2743200"/>
            <a:ext cx="73152" cy="141732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2889504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Schema 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246120"/>
            <a:ext cx="3017520" cy="7955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doc_id、chunk_text、region、category、status、article_no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743200"/>
            <a:ext cx="3017520" cy="141732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2743200"/>
            <a:ext cx="73152" cy="141732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6992" y="2889504"/>
            <a:ext cx="27432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3246120"/>
            <a:ext cx="2743200" cy="7955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IVF_FLAT + COSINE</a:t>
            </a:r>
            <a:br/>
            <a:r>
              <a:t>search 参数：nprobe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950976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PingFang SC"/>
              </a:defRPr>
            </a:pPr>
            <a:r>
              <a:t>API embedding 失败时抛错，避免把 hash 向量混入生产 collection。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混合检索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关键词召回保证术语命中，向量召回补足自然语言语义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143000"/>
            <a:ext cx="2926080" cy="100584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43000"/>
            <a:ext cx="73152" cy="100584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289304"/>
            <a:ext cx="265176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结构化过滤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645920"/>
            <a:ext cx="265176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status / region / source_org /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514600"/>
            <a:ext cx="2926080" cy="123444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514600"/>
            <a:ext cx="73152" cy="123444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2660904"/>
            <a:ext cx="265176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关键词分支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017520"/>
            <a:ext cx="2651760" cy="6126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query contains + token contains</a:t>
            </a:r>
            <a:br/>
            <a:r>
              <a:t>BM25-like scoring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69080"/>
            <a:ext cx="2926080" cy="123444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069080"/>
            <a:ext cx="73152" cy="123444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215384"/>
            <a:ext cx="265176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向量分支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572000"/>
            <a:ext cx="2651760" cy="6126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query embedding</a:t>
            </a:r>
            <a:br/>
            <a:r>
              <a:t>Milvus top-k search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94760" y="2926080"/>
            <a:ext cx="128016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66360" y="2423160"/>
            <a:ext cx="2743200" cy="128016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66360" y="2423160"/>
            <a:ext cx="73152" cy="128016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0952" y="2569464"/>
            <a:ext cx="24688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候选合并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2926080"/>
            <a:ext cx="2468880" cy="65836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按 chunk_id merge</a:t>
            </a:r>
            <a:br/>
            <a:r>
              <a:t>source=keyword/vector/hybrid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01000" y="2926080"/>
            <a:ext cx="82296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915400" y="2423160"/>
            <a:ext cx="2560320" cy="128016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2423160"/>
            <a:ext cx="73152" cy="12801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992" y="2569464"/>
            <a:ext cx="2286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输出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2926080"/>
            <a:ext cx="2286000" cy="65836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citations</a:t>
            </a:r>
            <a:br/>
            <a:r>
              <a:t>candidate counts</a:t>
            </a:r>
            <a:br/>
            <a:r>
              <a:t>retrieval_score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06440"/>
            <a:ext cx="5303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00" b="0">
                <a:solidFill>
                  <a:srgbClr val="A7B5C9"/>
                </a:solidFill>
                <a:latin typeface="PingFang SC"/>
              </a:defRPr>
            </a:pPr>
            <a:r>
              <a:t>代码证据：RetrieverService.search()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Reranking：轻量、可解释、可调试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当前不是 cross-encoder，而是启发式加权公式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417320"/>
            <a:ext cx="4937760" cy="1417320"/>
          </a:xfrm>
          <a:prstGeom prst="roundRect">
            <a:avLst/>
          </a:prstGeom>
          <a:solidFill>
            <a:srgbClr val="060F1E"/>
          </a:solidFill>
          <a:ln w="12700">
            <a:solidFill>
              <a:srgbClr val="2E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>
              <a:defRPr sz="1000">
                <a:solidFill>
                  <a:srgbClr val="BEEBFF"/>
                </a:solidFill>
                <a:latin typeface="Menlo"/>
              </a:defRPr>
            </a:pPr>
            <a:r>
              <a:t>final_score = 0.62 * keyword_score</a:t>
            </a:r>
            <a:br/>
            <a:r>
              <a:t>            + 0.30 * vector_score</a:t>
            </a:r>
            <a:br/>
            <a:r>
              <a:t>            + 0.08 * status_bonus</a:t>
            </a:r>
            <a:br/>
            <a:r>
              <a:t>            + hybrid_bonus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43000"/>
            <a:ext cx="4389120" cy="77724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143000"/>
            <a:ext cx="73152" cy="77724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289304"/>
            <a:ext cx="4114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keyword_score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645920"/>
            <a:ext cx="4114800" cy="15544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精确术语、文号、条文表达更可靠，因此权重最高。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48840"/>
            <a:ext cx="4389120" cy="77724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148840"/>
            <a:ext cx="73152" cy="77724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295144"/>
            <a:ext cx="4114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vector_score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651760"/>
            <a:ext cx="4114800" cy="15544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补充自然语言语义匹配，缓解用词不一致。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154680"/>
            <a:ext cx="4389120" cy="77724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154680"/>
            <a:ext cx="73152" cy="77724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300984"/>
            <a:ext cx="4114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status_bonus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657600"/>
            <a:ext cx="4114800" cy="15544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现行有效制度优先，提高监管问答时效性。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160520"/>
            <a:ext cx="4389120" cy="77724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160520"/>
            <a:ext cx="73152" cy="77724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4306824"/>
            <a:ext cx="4114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hybrid_bonus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663440"/>
            <a:ext cx="4114800" cy="15544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同时被关键词和向量命中的 chunk 获得额外奖励。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06440"/>
            <a:ext cx="9601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A7B5C9"/>
                </a:solidFill>
                <a:latin typeface="PingFang SC"/>
              </a:defRPr>
            </a:pPr>
            <a:r>
              <a:t>局限：权重是启发式设定，仓库没有训练式 reranker 或消融实验。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生成与 Prompt 组装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先检索 citations，再限制上下文生成答案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17320"/>
            <a:ext cx="123444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citations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1627632"/>
            <a:ext cx="96012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18688" y="1417320"/>
            <a:ext cx="1508760" cy="411480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context block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2" y="1627632"/>
            <a:ext cx="978408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16168" y="1417320"/>
            <a:ext cx="1097280" cy="411480"/>
          </a:xfrm>
          <a:prstGeom prst="round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prompt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0" y="1627632"/>
            <a:ext cx="96012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83879" y="1417320"/>
            <a:ext cx="960120" cy="411480"/>
          </a:xfrm>
          <a:prstGeom prst="round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LLM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0" y="1627632"/>
            <a:ext cx="86868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195560" y="1417320"/>
            <a:ext cx="960120" cy="41148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743200"/>
            <a:ext cx="3291840" cy="141732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2743200"/>
            <a:ext cx="73152" cy="141732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2889504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上下文控制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3246120"/>
            <a:ext cx="3017520" cy="7955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RAG_CONTEXT_CHUNKS</a:t>
            </a:r>
            <a:br/>
            <a:r>
              <a:t>RAG_CONTEXT_MAX_CHARS_PER_CHUNK</a:t>
            </a:r>
            <a:br/>
            <a:r>
              <a:t>RAG_CONTEXT_MAX_TOTAL_CHARS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2743200"/>
            <a:ext cx="3291840" cy="141732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2743200"/>
            <a:ext cx="73152" cy="141732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2889504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Prompt 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3246120"/>
            <a:ext cx="3017520" cy="7955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仅根据给定条文回答；依据不足时说明不确定。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743200"/>
            <a:ext cx="3291840" cy="141732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2743200"/>
            <a:ext cx="73152" cy="141732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5592" y="2889504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降级机制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3246120"/>
            <a:ext cx="3017520" cy="7955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no_evidence 不调用 LLM；LLM 不可用返回 degraded。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9784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PingFang SC"/>
              </a:defRPr>
            </a:pPr>
            <a:r>
              <a:t>Trade-off：更多 context 提高完整性，但增加 latency 与 token cost。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可信度与可追溯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答案不是孤立文本，而是带 evidence signals 的结构化结果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234440"/>
            <a:ext cx="3383280" cy="13258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380744"/>
            <a:ext cx="310896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Citations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737360"/>
            <a:ext cx="3108960" cy="70408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doc_id、title、article_no、chapter、chunk_text、retrieval_score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234440"/>
            <a:ext cx="3383280" cy="13258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1234440"/>
            <a:ext cx="73152" cy="132588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380744"/>
            <a:ext cx="310896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737360"/>
            <a:ext cx="3108960" cy="70408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答案 token 与引用条文 token 的重合度。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34440"/>
            <a:ext cx="3383280" cy="13258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234440"/>
            <a:ext cx="73152" cy="132588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380744"/>
            <a:ext cx="310896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Evidence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737360"/>
            <a:ext cx="3108960" cy="70408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答案中有多少词可以被 evidence 覆盖。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337560"/>
            <a:ext cx="3566160" cy="118872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11680" y="3337560"/>
            <a:ext cx="73152" cy="118872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76272" y="3483864"/>
            <a:ext cx="32918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3840480"/>
            <a:ext cx="329184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qa_records + qa_citations 保存问答和证据链。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337560"/>
            <a:ext cx="3566160" cy="118872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3337560"/>
            <a:ext cx="73152" cy="118872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1" y="3483864"/>
            <a:ext cx="32918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1" y="3840480"/>
            <a:ext cx="329184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这些是透明度信号，不是数学意义上的正确性证明。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9144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00" b="0">
                <a:solidFill>
                  <a:srgbClr val="A7B5C9"/>
                </a:solidFill>
                <a:latin typeface="PingFang SC"/>
              </a:defRPr>
            </a:pPr>
            <a:r>
              <a:t>代码证据：rag_service.py、consistency_service.py、interaction_service.py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评测与 Demo 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当前评测是工程验收，不是严格 IR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12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77240" y="1417320"/>
          <a:ext cx="557784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720840" y="1417320"/>
            <a:ext cx="4389120" cy="10972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1417320"/>
            <a:ext cx="73152" cy="1097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1563624"/>
            <a:ext cx="4114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评测脚本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1920240"/>
            <a:ext cx="4114800" cy="47548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scripts/evaluate_acceptance.py</a:t>
            </a:r>
            <a:br/>
            <a:r>
              <a:t>覆盖 search / qa / related / timeliness / ocr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743200"/>
            <a:ext cx="4389120" cy="10972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2743200"/>
            <a:ext cx="73152" cy="109728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2889504"/>
            <a:ext cx="4114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1" y="3246120"/>
            <a:ext cx="4114800" cy="47548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success_rate、关键词 accuracy、关键词 recall、avg latency、p95 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4069080"/>
            <a:ext cx="4389120" cy="10972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4069080"/>
            <a:ext cx="73152" cy="109728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1" y="4215384"/>
            <a:ext cx="4114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局限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4572000"/>
            <a:ext cx="4114800" cy="47548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没有 gold chunk；不能声称严格检索准确率。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6400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00" b="0">
                <a:solidFill>
                  <a:srgbClr val="A7B5C9"/>
                </a:solidFill>
                <a:latin typeface="PingFang SC"/>
              </a:defRPr>
            </a:pPr>
            <a:r>
              <a:t>报告来源：docs/reports/acceptance_eval.md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工程贡献 vs 研究贡献边界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答辩中需要诚实区分：做成系统 ≠ 提出新算法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325880"/>
            <a:ext cx="4846320" cy="33832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325880"/>
            <a:ext cx="73152" cy="3383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472184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工程贡献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1828800"/>
            <a:ext cx="4572000" cy="2761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端到端后端链路</a:t>
            </a:r>
            <a:br/>
            <a:r>
              <a:t>MySQL + Milvus</a:t>
            </a:r>
            <a:br/>
            <a:r>
              <a:t>任务重试与阶段指标</a:t>
            </a:r>
            <a:br/>
            <a:r>
              <a:t>health / metrics / tests</a:t>
            </a:r>
            <a:br/>
            <a:r>
              <a:t>Docker 部署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325880"/>
            <a:ext cx="4846320" cy="33832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325880"/>
            <a:ext cx="73152" cy="338328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1" y="1472184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研究性设计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1828800"/>
            <a:ext cx="4572000" cy="2761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条文感知 chunking</a:t>
            </a:r>
            <a:br/>
            <a:r>
              <a:t>metadata-aware retrieval</a:t>
            </a:r>
            <a:br/>
            <a:r>
              <a:t>时效状态参与排序</a:t>
            </a:r>
            <a:br/>
            <a:r>
              <a:t>证据一致性与覆盖率信号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987552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600" b="1">
                <a:solidFill>
                  <a:srgbClr val="FFC457"/>
                </a:solidFill>
                <a:latin typeface="PingFang SC"/>
              </a:defRPr>
            </a:pPr>
            <a:r>
              <a:t>不声称：新 ANN 算法、新 LLM、新 benchmark SOTA。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局限与未来工作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下一步应优先补严格检索评测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34440"/>
            <a:ext cx="3749039" cy="33832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234440"/>
            <a:ext cx="73152" cy="338328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380744"/>
            <a:ext cx="34747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当前局限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1737360"/>
            <a:ext cx="3474720" cy="2761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无前端 / 无认证</a:t>
            </a:r>
            <a:br/>
            <a:r>
              <a:t>异常老 .doc 可能失败</a:t>
            </a:r>
            <a:br/>
            <a:r>
              <a:t>无 gold chunk benchmark</a:t>
            </a:r>
            <a:br/>
            <a:r>
              <a:t>无大规模压测</a:t>
            </a:r>
            <a:br/>
            <a:r>
              <a:t>重排权重启发式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234440"/>
            <a:ext cx="3749039" cy="33832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1234440"/>
            <a:ext cx="73152" cy="338328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1380744"/>
            <a:ext cx="34747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未来工作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1737360"/>
            <a:ext cx="3474720" cy="2761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构建 gold chunk 评测集</a:t>
            </a:r>
            <a:br/>
            <a:r>
              <a:t>加入 Recall@K / MRR / nDCG</a:t>
            </a:r>
            <a:br/>
            <a:r>
              <a:t>LibreOffice 转换兜底</a:t>
            </a:r>
            <a:br/>
            <a:r>
              <a:t>前端与认证</a:t>
            </a:r>
            <a:br/>
            <a:r>
              <a:t>可选 cross-encoder reranker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234440"/>
            <a:ext cx="2514600" cy="33832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234440"/>
            <a:ext cx="73152" cy="33832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1380744"/>
            <a:ext cx="22402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优先级判断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1737360"/>
            <a:ext cx="2240280" cy="2761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先评测，再优化。</a:t>
            </a:r>
            <a:br/>
            <a:r>
              <a:t>没有 gold labels 时，很难严谨证明检索是否真正命中正确条文。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9601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PingFang SC"/>
              </a:defRPr>
            </a:pPr>
            <a:r>
              <a:t>答辩口径：这是后端验收版，不是完整生产系统。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500000">
            <a:off x="8686800" y="-320040"/>
            <a:ext cx="3291840" cy="3291840"/>
          </a:xfrm>
          <a:prstGeom prst="arc">
            <a:avLst/>
          </a:prstGeom>
          <a:noFill/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2220000">
            <a:off x="9006840" y="-91439"/>
            <a:ext cx="3291840" cy="3291840"/>
          </a:xfrm>
          <a:prstGeom prst="arc">
            <a:avLst/>
          </a:prstGeom>
          <a:noFill/>
          <a:ln w="2540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2940000">
            <a:off x="9326880" y="137160"/>
            <a:ext cx="3291840" cy="3291840"/>
          </a:xfrm>
          <a:prstGeom prst="arc">
            <a:avLst/>
          </a:prstGeom>
          <a:noFill/>
          <a:ln w="254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8138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C"/>
                </a:solidFill>
                <a:latin typeface="PingFang SC"/>
              </a:defRPr>
            </a:pPr>
            <a:r>
              <a:t>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5C9"/>
                </a:solidFill>
                <a:latin typeface="PingFang SC"/>
              </a:defRPr>
            </a:pPr>
            <a:r>
              <a:t>完整后端 RAG 闭环：导入 → 检索 → 生成 → 引用 → 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"/>
            <a:ext cx="128016" cy="384048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1">
                <a:solidFill>
                  <a:srgbClr val="A7B5C9"/>
                </a:solidFill>
                <a:latin typeface="PingFang SC"/>
              </a:defRPr>
            </a:pPr>
            <a: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554480"/>
            <a:ext cx="1143000" cy="420624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Ingest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1764792"/>
            <a:ext cx="64008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1554480"/>
            <a:ext cx="1143000" cy="420624"/>
          </a:xfrm>
          <a:prstGeom prst="round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Chunk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1764792"/>
            <a:ext cx="64008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19472" y="1554480"/>
            <a:ext cx="1143000" cy="420624"/>
          </a:xfrm>
          <a:prstGeom prst="round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Embed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1764792"/>
            <a:ext cx="64008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31152" y="1554480"/>
            <a:ext cx="1234440" cy="420624"/>
          </a:xfrm>
          <a:prstGeom prst="round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Retrieve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75320" y="1764792"/>
            <a:ext cx="640080" cy="0"/>
          </a:xfrm>
          <a:prstGeom prst="line">
            <a:avLst/>
          </a:prstGeom>
          <a:ln w="20320">
            <a:solidFill>
              <a:srgbClr val="00A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34272" y="1554480"/>
            <a:ext cx="1325880" cy="420624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C182C"/>
                </a:solidFill>
                <a:latin typeface="PingFang SC"/>
              </a:defRPr>
            </a:pPr>
            <a:r>
              <a:t>Generate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743200"/>
            <a:ext cx="4983480" cy="15544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2743200"/>
            <a:ext cx="73152" cy="1554480"/>
          </a:xfrm>
          <a:prstGeom prst="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2889504"/>
            <a:ext cx="470916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246120"/>
            <a:ext cx="4709160" cy="9326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文档导入、条文切分、embedding、Milvus、混合检索、重排、Prompt 组装、引用、QA 持久化、健康检查、验收评测。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743200"/>
            <a:ext cx="4572000" cy="1554480"/>
          </a:xfrm>
          <a:prstGeom prst="roundRect">
            <a:avLst/>
          </a:prstGeom>
          <a:solidFill>
            <a:srgbClr val="152B4C"/>
          </a:solidFill>
          <a:ln w="12700">
            <a:solidFill>
              <a:srgbClr val="2B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743200"/>
            <a:ext cx="73152" cy="155448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889504"/>
            <a:ext cx="42976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PingFang SC"/>
              </a:defRPr>
            </a:pPr>
            <a:r>
              <a:t>交付定位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246120"/>
            <a:ext cx="4297680" cy="9326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50" b="0">
                <a:solidFill>
                  <a:srgbClr val="A7B5C9"/>
                </a:solidFill>
                <a:latin typeface="PingFang SC"/>
              </a:defRPr>
            </a:pPr>
            <a:r>
              <a:t>可作为后端验收版交付；前端、认证、严格 gold chunk 评测为后续增强。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600" b="1">
                <a:solidFill>
                  <a:srgbClr val="F5F8FC"/>
                </a:solidFill>
                <a:latin typeface="PingFang SC"/>
              </a:defRPr>
            </a:pPr>
            <a:r>
              <a:t>谢谢各位老师，欢迎提问。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